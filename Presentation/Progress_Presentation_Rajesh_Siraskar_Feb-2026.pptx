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8" r:id="rId2"/>
    <p:sldId id="347" r:id="rId3"/>
    <p:sldId id="539" r:id="rId4"/>
    <p:sldId id="540" r:id="rId5"/>
    <p:sldId id="545" r:id="rId6"/>
    <p:sldId id="544" r:id="rId7"/>
    <p:sldId id="546" r:id="rId8"/>
    <p:sldId id="551" r:id="rId9"/>
    <p:sldId id="552" r:id="rId10"/>
    <p:sldId id="548" r:id="rId11"/>
    <p:sldId id="553" r:id="rId12"/>
    <p:sldId id="554" r:id="rId13"/>
    <p:sldId id="555" r:id="rId14"/>
    <p:sldId id="556" r:id="rId15"/>
    <p:sldId id="557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21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jesh Siraskar" initials="RS" lastIdx="1" clrIdx="0">
    <p:extLst>
      <p:ext uri="{19B8F6BF-5375-455C-9EA6-DF929625EA0E}">
        <p15:presenceInfo xmlns:p15="http://schemas.microsoft.com/office/powerpoint/2012/main" userId="02cf2377f26377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505"/>
    <a:srgbClr val="0660BA"/>
    <a:srgbClr val="0000FF"/>
    <a:srgbClr val="F4EDB6"/>
    <a:srgbClr val="F6842E"/>
    <a:srgbClr val="ECDF80"/>
    <a:srgbClr val="FF9F9F"/>
    <a:srgbClr val="FFB3B3"/>
    <a:srgbClr val="D6D3CC"/>
    <a:srgbClr val="FDE0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6912" autoAdjust="0"/>
  </p:normalViewPr>
  <p:slideViewPr>
    <p:cSldViewPr>
      <p:cViewPr>
        <p:scale>
          <a:sx n="100" d="100"/>
          <a:sy n="100" d="100"/>
        </p:scale>
        <p:origin x="1224" y="582"/>
      </p:cViewPr>
      <p:guideLst>
        <p:guide orient="horz" pos="686"/>
        <p:guide pos="21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2300"/>
    </p:cViewPr>
  </p:sorterViewPr>
  <p:gridSpacing cx="90001" cy="9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A0A6E-9C3D-4D40-B011-BDE8D368E1EF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AB1FA-B6F6-4AC8-9FA5-219A3C0D5E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393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90600" cy="6858000"/>
          </a:xfrm>
          <a:prstGeom prst="rect">
            <a:avLst/>
          </a:prstGeom>
          <a:solidFill>
            <a:srgbClr val="4747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950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558F-760C-4B61-82FC-D8AC7B302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15600" cy="777875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IN" sz="3200" kern="1200" spc="-50" baseline="0" dirty="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8A5CAD-0A65-BBA9-7DF2-16007C71B5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143000"/>
            <a:ext cx="5486400" cy="3733800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1pPr>
            <a:lvl2pPr marL="45720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2pPr>
            <a:lvl3pPr marL="73152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3pPr>
            <a:lvl4pPr marL="100584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4pPr>
            <a:lvl5pPr marL="1280160" indent="-182880">
              <a:lnSpc>
                <a:spcPct val="120000"/>
              </a:lnSpc>
              <a:spcAft>
                <a:spcPts val="600"/>
              </a:spcAft>
              <a:buFont typeface="Segoe UI" panose="020B0502040204020203" pitchFamily="34" charset="0"/>
              <a:buChar char="-"/>
              <a:defRPr>
                <a:latin typeface="Aptos" panose="020B000402020202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741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538F36-66AB-A70D-6A61-BD61FB4FAF0C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38048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628BCFF-5734-110F-A659-1CCB0F6A1B00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7FFD6-C191-1E9B-8E68-67C1F343A6E4}"/>
              </a:ext>
            </a:extLst>
          </p:cNvPr>
          <p:cNvSpPr txBox="1"/>
          <p:nvPr userDrawn="1"/>
        </p:nvSpPr>
        <p:spPr>
          <a:xfrm>
            <a:off x="9767486" y="6463268"/>
            <a:ext cx="22790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Rajesh Siraskar | </a:t>
            </a:r>
            <a:fld id="{86259D59-E195-423E-82EA-2B8BA168EA7D}" type="datetime5">
              <a:rPr lang="en-GB" sz="1200" smtClean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pPr algn="r"/>
              <a:t>7-Feb-26</a:t>
            </a:fld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 | </a:t>
            </a:r>
            <a:fld id="{35F6BBDC-FA0D-4BB2-9AAA-B849451F3AA6}" type="slidenum">
              <a:rPr lang="en-GB" sz="1200" smtClean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IN" sz="1200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10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2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9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51EBB8E8-DF34-46B4-8697-0D8C8DB6D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23376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0B219-F103-C6B6-1542-2411051A71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99160" y="931861"/>
            <a:ext cx="6059962" cy="398698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en-US" sz="6000" noProof="0" dirty="0">
                <a:latin typeface="Aptos" panose="020B0004020202020204" pitchFamily="34" charset="0"/>
                <a:cs typeface="Segoe UI" panose="020B0502040204020203" pitchFamily="34" charset="0"/>
              </a:rPr>
              <a:t>Reinforcement Learning for Predictive Maintenance</a:t>
            </a:r>
            <a:endParaRPr lang="en-US" sz="6000" noProof="0" dirty="0">
              <a:solidFill>
                <a:srgbClr val="FFFFFF"/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35417EB8-D7CD-427B-B5E9-9A88C85B4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B4B243-B5D9-4B56-B29F-6356B903B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3761" y="-2812"/>
            <a:ext cx="4059079" cy="68608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DFD47B-FB81-4F2F-9AEA-CBCF1667A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-2812"/>
            <a:ext cx="914400" cy="6860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22FCB-D65F-094C-F98F-058F19EBD060}"/>
              </a:ext>
            </a:extLst>
          </p:cNvPr>
          <p:cNvSpPr txBox="1"/>
          <p:nvPr/>
        </p:nvSpPr>
        <p:spPr>
          <a:xfrm>
            <a:off x="7233760" y="5184633"/>
            <a:ext cx="4059079" cy="102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Mode: 		Part-Time</a:t>
            </a:r>
          </a:p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PRN:		2107 900 1012</a:t>
            </a:r>
          </a:p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Confirmation: 	16-Feb-2023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8C69E-B880-E0AE-80A9-A0E0A744B371}"/>
              </a:ext>
            </a:extLst>
          </p:cNvPr>
          <p:cNvSpPr txBox="1"/>
          <p:nvPr/>
        </p:nvSpPr>
        <p:spPr>
          <a:xfrm>
            <a:off x="899160" y="5184633"/>
            <a:ext cx="6105440" cy="425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888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07-Feb-2026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993AED-73D0-76A4-1B8C-76DF8794EC9F}"/>
              </a:ext>
            </a:extLst>
          </p:cNvPr>
          <p:cNvSpPr txBox="1"/>
          <p:nvPr/>
        </p:nvSpPr>
        <p:spPr>
          <a:xfrm>
            <a:off x="7233759" y="931861"/>
            <a:ext cx="4059079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7313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Progress Presentation</a:t>
            </a:r>
          </a:p>
          <a:p>
            <a:pPr marL="87313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  <a:p>
            <a:pPr marL="87313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Rajesh Siraskar</a:t>
            </a: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31925" algn="l"/>
              </a:tabLs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Segoe UI" panose="020B0502040204020203" pitchFamily="34" charset="0"/>
            </a:endParaRP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06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Supervisor: 	Dr. Satish Kumar</a:t>
            </a: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065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Co-supervisor:	Dr. Shruti Patil</a:t>
            </a:r>
          </a:p>
          <a:p>
            <a:pPr marL="92075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06563" algn="l"/>
              </a:tabLst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Co-Supervisor</a:t>
            </a:r>
            <a:r>
              <a:rPr lang="en-GB" dirty="0">
                <a:solidFill>
                  <a:srgbClr val="FFFFFF"/>
                </a:solidFill>
                <a:latin typeface="Aptos" panose="020B0004020202020204" pitchFamily="34" charset="0"/>
                <a:cs typeface="Segoe UI" panose="020B0502040204020203" pitchFamily="34" charset="0"/>
              </a:rPr>
              <a:t>: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Segoe UI" panose="020B0502040204020203" pitchFamily="34" charset="0"/>
              </a:rPr>
              <a:t>Dr. Ambarish Kulkarni </a:t>
            </a:r>
          </a:p>
        </p:txBody>
      </p:sp>
    </p:spTree>
    <p:extLst>
      <p:ext uri="{BB962C8B-B14F-4D97-AF65-F5344CB8AC3E}">
        <p14:creationId xmlns:p14="http://schemas.microsoft.com/office/powerpoint/2010/main" val="233090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7BB9FD-FF84-E079-FB54-51D96ABA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4011126-F793-2058-54F4-5C7FC3845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C210ABC-B02E-93D5-0545-BA7CB4736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8C587-9DB8-7426-5B09-68F950B697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0"/>
            <a:ext cx="9056876" cy="789762"/>
          </a:xfrm>
          <a:prstGeom prst="rect">
            <a:avLst/>
          </a:prstGeom>
          <a:solidFill>
            <a:srgbClr val="D6D3CC"/>
          </a:solidFill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 noProof="0" dirty="0">
                <a:latin typeface="Aptos" panose="020B0004020202020204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FD7A24-8C1F-B06E-A0DF-7326DA54E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9DB70C-31D3-5469-95F1-3266FB512A02}"/>
              </a:ext>
            </a:extLst>
          </p:cNvPr>
          <p:cNvSpPr txBox="1"/>
          <p:nvPr/>
        </p:nvSpPr>
        <p:spPr>
          <a:xfrm>
            <a:off x="605939" y="1088974"/>
            <a:ext cx="7978826" cy="1179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  <a:tabLst>
                <a:tab pos="4665663" algn="l"/>
              </a:tabLst>
            </a:pPr>
            <a:r>
              <a:rPr lang="en-US" noProof="0" dirty="0" err="1">
                <a:latin typeface="Aptos" panose="020B0004020202020204" pitchFamily="34" charset="0"/>
                <a:cs typeface="Segoe UI" panose="020B0502040204020203" pitchFamily="34" charset="0"/>
              </a:rPr>
              <a:t>Xx</a:t>
            </a:r>
            <a:endParaRPr lang="en-US" noProof="0" dirty="0"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tabLst>
                <a:tab pos="4665663" algn="l"/>
              </a:tabLst>
            </a:pPr>
            <a:r>
              <a:rPr lang="en-US" dirty="0" err="1">
                <a:latin typeface="Aptos" panose="020B0004020202020204" pitchFamily="34" charset="0"/>
                <a:cs typeface="Segoe UI" panose="020B0502040204020203" pitchFamily="34" charset="0"/>
              </a:rPr>
              <a:t>Xxx</a:t>
            </a:r>
            <a:endParaRPr lang="en-US" dirty="0">
              <a:latin typeface="Aptos" panose="020B0004020202020204" pitchFamily="34" charset="0"/>
              <a:cs typeface="Segoe UI" panose="020B0502040204020203" pitchFamily="34" charset="0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  <a:tabLst>
                <a:tab pos="4665663" algn="l"/>
              </a:tabLst>
            </a:pPr>
            <a:r>
              <a:rPr lang="en-US" dirty="0">
                <a:latin typeface="Aptos" panose="020B0004020202020204" pitchFamily="34" charset="0"/>
                <a:cs typeface="Segoe UI" panose="020B0502040204020203" pitchFamily="34" charset="0"/>
              </a:rPr>
              <a:t>xxx</a:t>
            </a:r>
          </a:p>
        </p:txBody>
      </p:sp>
    </p:spTree>
    <p:extLst>
      <p:ext uri="{BB962C8B-B14F-4D97-AF65-F5344CB8AC3E}">
        <p14:creationId xmlns:p14="http://schemas.microsoft.com/office/powerpoint/2010/main" val="379993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E4A1845-5405-6CCC-BA95-B434EE21C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939" y="1088973"/>
            <a:ext cx="10997731" cy="49500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057CE11-78F7-9E0B-5DEE-9FE8E081D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AutoRL – Framework Flow</a:t>
            </a:r>
          </a:p>
        </p:txBody>
      </p:sp>
    </p:spTree>
    <p:extLst>
      <p:ext uri="{BB962C8B-B14F-4D97-AF65-F5344CB8AC3E}">
        <p14:creationId xmlns:p14="http://schemas.microsoft.com/office/powerpoint/2010/main" val="57886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DF8B18-A6FE-6C87-4523-14E8787F5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4"/>
          <a:stretch>
            <a:fillRect/>
          </a:stretch>
        </p:blipFill>
        <p:spPr>
          <a:xfrm>
            <a:off x="704313" y="998973"/>
            <a:ext cx="10260114" cy="5334810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F3CD5433-09D0-89CE-0643-C0B1ACD4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AutoRL – Application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61853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EB094-CA3F-BA59-E350-C33DDA33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0F142-BC2E-9603-BA55-64E833703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4"/>
          <a:stretch>
            <a:fillRect/>
          </a:stretch>
        </p:blipFill>
        <p:spPr>
          <a:xfrm>
            <a:off x="704313" y="998973"/>
            <a:ext cx="10260114" cy="5334810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B680FFA9-0A4A-5EBE-4384-D223FDBEA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AutoRL – Application Framework</a:t>
            </a: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1C668C3-6877-2B48-671A-7DE40DFFED19}"/>
              </a:ext>
            </a:extLst>
          </p:cNvPr>
          <p:cNvSpPr/>
          <p:nvPr/>
        </p:nvSpPr>
        <p:spPr>
          <a:xfrm>
            <a:off x="3548370" y="3338999"/>
            <a:ext cx="2557087" cy="2070023"/>
          </a:xfrm>
          <a:prstGeom prst="wedgeRectCallout">
            <a:avLst>
              <a:gd name="adj1" fmla="val -129065"/>
              <a:gd name="adj2" fmla="val -931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lnSpc>
                <a:spcPct val="150000"/>
              </a:lnSpc>
            </a:pPr>
            <a:r>
              <a:rPr lang="en-US" sz="1600" b="1" dirty="0">
                <a:latin typeface="Aptos" panose="020B0004020202020204" pitchFamily="34" charset="0"/>
              </a:rPr>
              <a:t>Set-up panels </a:t>
            </a:r>
          </a:p>
          <a:p>
            <a:pPr marL="177800"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1. Configuration</a:t>
            </a:r>
          </a:p>
          <a:p>
            <a:pPr marL="177800"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2. Training</a:t>
            </a:r>
          </a:p>
          <a:p>
            <a:pPr marL="177800">
              <a:lnSpc>
                <a:spcPct val="150000"/>
              </a:lnSpc>
            </a:pPr>
            <a:r>
              <a:rPr lang="en-US" sz="1600" dirty="0">
                <a:latin typeface="Aptos" panose="020B0004020202020204" pitchFamily="34" charset="0"/>
              </a:rPr>
              <a:t>3. Evaluation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00CE617F-2BC5-2966-6AFD-BA1C7BC62E71}"/>
              </a:ext>
            </a:extLst>
          </p:cNvPr>
          <p:cNvSpPr/>
          <p:nvPr/>
        </p:nvSpPr>
        <p:spPr>
          <a:xfrm>
            <a:off x="7176012" y="2708992"/>
            <a:ext cx="3150035" cy="2880032"/>
          </a:xfrm>
          <a:prstGeom prst="wedgeRectCallout">
            <a:avLst>
              <a:gd name="adj1" fmla="val -123928"/>
              <a:gd name="adj2" fmla="val -591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>
              <a:lnSpc>
                <a:spcPct val="150000"/>
              </a:lnSpc>
            </a:pPr>
            <a:r>
              <a:rPr lang="en-US" sz="1600" b="1" dirty="0">
                <a:latin typeface="Aptos" panose="020B0004020202020204" pitchFamily="34" charset="0"/>
              </a:rPr>
              <a:t>Main area panels </a:t>
            </a:r>
          </a:p>
          <a:p>
            <a:pPr marL="5207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Aptos" panose="020B0004020202020204" pitchFamily="34" charset="0"/>
              </a:rPr>
              <a:t>Live-training plots</a:t>
            </a:r>
          </a:p>
          <a:p>
            <a:pPr marL="5207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Aptos" panose="020B0004020202020204" pitchFamily="34" charset="0"/>
              </a:rPr>
              <a:t>Trained models performance comparison</a:t>
            </a:r>
          </a:p>
          <a:p>
            <a:pPr marL="520700" indent="-342900">
              <a:lnSpc>
                <a:spcPct val="150000"/>
              </a:lnSpc>
              <a:buAutoNum type="arabicPeriod"/>
            </a:pPr>
            <a:r>
              <a:rPr lang="en-US" sz="1600" dirty="0">
                <a:latin typeface="Aptos" panose="020B0004020202020204" pitchFamily="34" charset="0"/>
              </a:rPr>
              <a:t>Evaluate trained model on unseen test data</a:t>
            </a:r>
          </a:p>
        </p:txBody>
      </p:sp>
    </p:spTree>
    <p:extLst>
      <p:ext uri="{BB962C8B-B14F-4D97-AF65-F5344CB8AC3E}">
        <p14:creationId xmlns:p14="http://schemas.microsoft.com/office/powerpoint/2010/main" val="243578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52114-13F4-0BAE-D138-CDA4438F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39D0B4-709C-547F-195A-7C06B1D2F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79" r="78152"/>
          <a:stretch>
            <a:fillRect/>
          </a:stretch>
        </p:blipFill>
        <p:spPr>
          <a:xfrm>
            <a:off x="695940" y="1077282"/>
            <a:ext cx="2880032" cy="5350852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4F488F27-0D52-A97D-C887-ED54788BF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Panel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AB030-9690-9BBA-AE31-E512C6D7A9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35976" y="1113164"/>
            <a:ext cx="5486400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Configuration Panel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b="1" dirty="0"/>
              <a:t>Base algorithms</a:t>
            </a:r>
            <a:r>
              <a:rPr lang="en-GB" dirty="0"/>
              <a:t>:</a:t>
            </a:r>
            <a:r>
              <a:rPr lang="en-GB" b="1" dirty="0"/>
              <a:t>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PPO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A2C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DQN and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REINFORCE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Attention Mechanisms</a:t>
            </a:r>
            <a:r>
              <a:rPr lang="en-GB" dirty="0"/>
              <a:t>: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Temporal Attention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Self-Attention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Multi-Head attention and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Nadaraya-Watson attention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Wear Threshold for Performance Evaluation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4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3D79-A1E3-C8F7-5A4A-9AFDE729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5D5C531F-EB8A-E17A-E05A-03ABD588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Set-up Panel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D469D-4F86-B950-4237-4344961A6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6039" y="956360"/>
            <a:ext cx="2520028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Training Set-up Panel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b="1" dirty="0"/>
              <a:t>Select sensor data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IEEE data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SIT data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Hyper-parameters: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Learning Rates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Discount Rates (Gamma)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95FE8F-07E0-577C-5FAC-298A3D6F9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7" r="4231"/>
          <a:stretch>
            <a:fillRect/>
          </a:stretch>
        </p:blipFill>
        <p:spPr>
          <a:xfrm>
            <a:off x="605939" y="941877"/>
            <a:ext cx="8910099" cy="5490061"/>
          </a:xfrm>
          <a:prstGeom prst="rect">
            <a:avLst/>
          </a:prstGeom>
        </p:spPr>
      </p:pic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8B9937AF-4A5A-4901-53D4-7D2A7E859735}"/>
              </a:ext>
            </a:extLst>
          </p:cNvPr>
          <p:cNvSpPr/>
          <p:nvPr/>
        </p:nvSpPr>
        <p:spPr>
          <a:xfrm>
            <a:off x="3125967" y="2168986"/>
            <a:ext cx="2700030" cy="450005"/>
          </a:xfrm>
          <a:prstGeom prst="wedgeRectCallout">
            <a:avLst>
              <a:gd name="adj1" fmla="val -88110"/>
              <a:gd name="adj2" fmla="val -204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dirty="0">
                <a:latin typeface="Aptos" panose="020B0004020202020204" pitchFamily="34" charset="0"/>
              </a:rPr>
              <a:t>Load sensor training data</a:t>
            </a: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CD955788-197C-FA5C-4268-9567E931E68C}"/>
              </a:ext>
            </a:extLst>
          </p:cNvPr>
          <p:cNvSpPr/>
          <p:nvPr/>
        </p:nvSpPr>
        <p:spPr>
          <a:xfrm>
            <a:off x="3125966" y="3829167"/>
            <a:ext cx="3503713" cy="450005"/>
          </a:xfrm>
          <a:prstGeom prst="wedgeRectCallout">
            <a:avLst>
              <a:gd name="adj1" fmla="val -88110"/>
              <a:gd name="adj2" fmla="val -204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dirty="0">
                <a:latin typeface="Aptos" panose="020B0004020202020204" pitchFamily="34" charset="0"/>
              </a:rPr>
              <a:t>Multiple learning-rates (Alpha)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7C868F6-E761-5DCF-7033-6345345A8920}"/>
              </a:ext>
            </a:extLst>
          </p:cNvPr>
          <p:cNvSpPr/>
          <p:nvPr/>
        </p:nvSpPr>
        <p:spPr>
          <a:xfrm>
            <a:off x="3118955" y="4443174"/>
            <a:ext cx="3503714" cy="450005"/>
          </a:xfrm>
          <a:prstGeom prst="wedgeRectCallout">
            <a:avLst>
              <a:gd name="adj1" fmla="val -84703"/>
              <a:gd name="adj2" fmla="val -742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dirty="0">
                <a:latin typeface="Aptos" panose="020B0004020202020204" pitchFamily="34" charset="0"/>
              </a:rPr>
              <a:t>Multiple discount-rate (Gamma)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32C508D2-5AB1-DC04-69EF-721CDEE74AA3}"/>
              </a:ext>
            </a:extLst>
          </p:cNvPr>
          <p:cNvSpPr/>
          <p:nvPr/>
        </p:nvSpPr>
        <p:spPr>
          <a:xfrm>
            <a:off x="3125965" y="5266005"/>
            <a:ext cx="3503714" cy="793107"/>
          </a:xfrm>
          <a:prstGeom prst="wedgeRectCallout">
            <a:avLst>
              <a:gd name="adj1" fmla="val -96079"/>
              <a:gd name="adj2" fmla="val -96942"/>
            </a:avLst>
          </a:prstGeom>
          <a:solidFill>
            <a:srgbClr val="0660B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/>
            <a:r>
              <a:rPr lang="en-US" sz="1600" b="1" dirty="0">
                <a:solidFill>
                  <a:srgbClr val="D0D505"/>
                </a:solidFill>
                <a:latin typeface="Aptos" panose="020B0004020202020204" pitchFamily="34" charset="0"/>
              </a:rPr>
              <a:t>AutoRL</a:t>
            </a:r>
            <a:r>
              <a:rPr lang="en-US" sz="1600" dirty="0">
                <a:solidFill>
                  <a:srgbClr val="D0D505"/>
                </a:solidFill>
                <a:latin typeface="Aptos" panose="020B0004020202020204" pitchFamily="34" charset="0"/>
              </a:rPr>
              <a:t> – Run fully automated pipeline</a:t>
            </a:r>
          </a:p>
        </p:txBody>
      </p:sp>
    </p:spTree>
    <p:extLst>
      <p:ext uri="{BB962C8B-B14F-4D97-AF65-F5344CB8AC3E}">
        <p14:creationId xmlns:p14="http://schemas.microsoft.com/office/powerpoint/2010/main" val="312799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27AC-DF04-158F-17B5-11B664AE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66A17FE-4AE3-E01C-4B81-5FC2164C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Set-up Panel – SIT data loaded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8FF2E-DB8A-07B6-C09B-3E66CA5B3C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6039" y="956360"/>
            <a:ext cx="2520028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Training Set-up Panel</a:t>
            </a:r>
          </a:p>
          <a:p>
            <a:pPr marL="342900" indent="-342900">
              <a:spcBef>
                <a:spcPts val="0"/>
              </a:spcBef>
              <a:buFont typeface="+mj-lt"/>
              <a:buAutoNum type="arabicPeriod"/>
            </a:pPr>
            <a:r>
              <a:rPr lang="en-GB" b="1" dirty="0"/>
              <a:t>Select sensor data 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IEEE data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SIT data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GB" b="1" dirty="0"/>
              <a:t>Hyper-parameters: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Learning Rates</a:t>
            </a:r>
          </a:p>
          <a:p>
            <a:pPr marL="617220" lvl="1" indent="-342900">
              <a:spcBef>
                <a:spcPts val="0"/>
              </a:spcBef>
              <a:buFont typeface="+mj-lt"/>
              <a:buAutoNum type="arabicPeriod"/>
            </a:pPr>
            <a:r>
              <a:rPr lang="en-GB" dirty="0"/>
              <a:t>Multiple Discount Rates (Gamma)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EFD53-CF9B-3CCE-76DA-EB4E87030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17" r="4231"/>
          <a:stretch>
            <a:fillRect/>
          </a:stretch>
        </p:blipFill>
        <p:spPr>
          <a:xfrm>
            <a:off x="605939" y="941877"/>
            <a:ext cx="8910099" cy="549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7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DE98-805D-6B10-AC58-06FAF06F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002FB130-762C-5E12-EB2C-1C3B5ECD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Set-up Panel – IEEE data loaded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3F0AEB-968C-34D8-836D-8527FA787329}"/>
              </a:ext>
            </a:extLst>
          </p:cNvPr>
          <p:cNvGrpSpPr/>
          <p:nvPr/>
        </p:nvGrpSpPr>
        <p:grpSpPr>
          <a:xfrm>
            <a:off x="605939" y="941877"/>
            <a:ext cx="8910099" cy="5490061"/>
            <a:chOff x="605939" y="941877"/>
            <a:chExt cx="8910099" cy="549006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C0A89F6-0942-7E27-A6EA-ABE58BF76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917" r="4231"/>
            <a:stretch>
              <a:fillRect/>
            </a:stretch>
          </p:blipFill>
          <p:spPr>
            <a:xfrm>
              <a:off x="605939" y="941877"/>
              <a:ext cx="8910099" cy="549006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CCCB83-0D78-D70F-0324-6D9BB19BE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37" t="21912" r="3532"/>
            <a:stretch>
              <a:fillRect/>
            </a:stretch>
          </p:blipFill>
          <p:spPr>
            <a:xfrm>
              <a:off x="2495959" y="1898983"/>
              <a:ext cx="6930077" cy="4320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429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5A3AC-F4D8-0694-D62C-9608AD2C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D77A7B5-1537-F325-6F7C-ACC7841A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Queue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725B6-95D3-EE5B-1633-C48A73A272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4550" y="992590"/>
            <a:ext cx="3330037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AutoRL Training Queue</a:t>
            </a: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In </a:t>
            </a:r>
            <a:r>
              <a:rPr lang="en-GB" b="1" dirty="0"/>
              <a:t>Phase-1</a:t>
            </a:r>
            <a:r>
              <a:rPr lang="en-GB" dirty="0"/>
              <a:t>: AutoRL automatically creates a queue of all training combinations – based on user-inputs.</a:t>
            </a:r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Example: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24 combinations = 4 Algorithms x 3 Learning-rates  x 2 Discount Rate (Gamma)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D05CE4-75FB-E94A-A90C-050EB4342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52" r="56316"/>
          <a:stretch>
            <a:fillRect/>
          </a:stretch>
        </p:blipFill>
        <p:spPr>
          <a:xfrm>
            <a:off x="605939" y="992590"/>
            <a:ext cx="5777729" cy="567644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F7BDB6-9A9E-E4BC-BF05-9B830EAF5D31}"/>
              </a:ext>
            </a:extLst>
          </p:cNvPr>
          <p:cNvCxnSpPr>
            <a:cxnSpLocks/>
          </p:cNvCxnSpPr>
          <p:nvPr/>
        </p:nvCxnSpPr>
        <p:spPr>
          <a:xfrm flipH="1">
            <a:off x="5375993" y="2528990"/>
            <a:ext cx="1530016" cy="81000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4B0A24FB-2B1B-9B7A-A3D3-0EE51E56A603}"/>
              </a:ext>
            </a:extLst>
          </p:cNvPr>
          <p:cNvSpPr/>
          <p:nvPr/>
        </p:nvSpPr>
        <p:spPr>
          <a:xfrm>
            <a:off x="4759882" y="2168986"/>
            <a:ext cx="540006" cy="4320048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420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D37C-2120-9040-0AD0-F17FBCF2C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8A1FA4B-8B86-E10D-9203-6E3D4BF33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80" r="3442"/>
          <a:stretch>
            <a:fillRect/>
          </a:stretch>
        </p:blipFill>
        <p:spPr>
          <a:xfrm>
            <a:off x="605939" y="998973"/>
            <a:ext cx="11227888" cy="5220058"/>
          </a:xfrm>
          <a:prstGeom prst="rect">
            <a:avLst/>
          </a:prstGeom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C2DE48E9-2E6A-BDC1-83E1-22FA11FF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Training: Live training plots</a:t>
            </a:r>
          </a:p>
        </p:txBody>
      </p:sp>
    </p:spTree>
    <p:extLst>
      <p:ext uri="{BB962C8B-B14F-4D97-AF65-F5344CB8AC3E}">
        <p14:creationId xmlns:p14="http://schemas.microsoft.com/office/powerpoint/2010/main" val="2494868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0BA7-6451-F179-228C-7392CB3F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4234A26-CE8E-7504-69B3-E79CF42A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Logs – All training plots saved in log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4E6B65-924C-F733-64A9-6EC24B239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66" r="3296"/>
          <a:stretch>
            <a:fillRect/>
          </a:stretch>
        </p:blipFill>
        <p:spPr>
          <a:xfrm>
            <a:off x="695940" y="998973"/>
            <a:ext cx="11070123" cy="518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7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5F4A0-FAA5-D2A1-796B-F18812FC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B503845A-16D0-2D85-5E09-B308D5063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– Phase 2 and Phase 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3D9E13-3CE5-A828-650C-EAE515E63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4" r="55708"/>
          <a:stretch>
            <a:fillRect/>
          </a:stretch>
        </p:blipFill>
        <p:spPr>
          <a:xfrm>
            <a:off x="605939" y="998973"/>
            <a:ext cx="5400060" cy="565319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7BEE7F-6207-3BA6-CC51-657D76A398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26007" y="988296"/>
            <a:ext cx="3330037" cy="501586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AutoRL Training Queue</a:t>
            </a:r>
          </a:p>
          <a:p>
            <a:pPr marL="0" indent="0">
              <a:spcBef>
                <a:spcPts val="0"/>
              </a:spcBef>
              <a:buNone/>
            </a:pPr>
            <a:endParaRPr lang="en-GB" b="1" dirty="0"/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In </a:t>
            </a:r>
            <a:r>
              <a:rPr lang="en-GB" b="1" dirty="0"/>
              <a:t>Phase-2</a:t>
            </a:r>
            <a:r>
              <a:rPr lang="en-GB" dirty="0"/>
              <a:t>: Best algorithm and hyper-parameter selected </a:t>
            </a:r>
            <a:r>
              <a:rPr lang="en-GB" b="1" dirty="0"/>
              <a:t>automatically</a:t>
            </a:r>
          </a:p>
          <a:p>
            <a:pPr marL="0" indent="0">
              <a:spcBef>
                <a:spcPts val="0"/>
              </a:spcBef>
              <a:buNone/>
            </a:pPr>
            <a:endParaRPr lang="en-GB" dirty="0"/>
          </a:p>
          <a:p>
            <a:pPr marL="0" indent="0">
              <a:spcBef>
                <a:spcPts val="0"/>
              </a:spcBef>
              <a:buNone/>
            </a:pPr>
            <a:r>
              <a:rPr lang="en-GB" dirty="0"/>
              <a:t>In </a:t>
            </a:r>
            <a:r>
              <a:rPr lang="en-GB" b="1" dirty="0"/>
              <a:t>Phase-3</a:t>
            </a:r>
            <a:r>
              <a:rPr lang="en-GB" dirty="0"/>
              <a:t>: Queue created automatically for applying attention mechanism to best combination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A194162-0ABF-F5F2-ADB0-F665991F38D1}"/>
              </a:ext>
            </a:extLst>
          </p:cNvPr>
          <p:cNvCxnSpPr>
            <a:cxnSpLocks/>
          </p:cNvCxnSpPr>
          <p:nvPr/>
        </p:nvCxnSpPr>
        <p:spPr>
          <a:xfrm flipH="1">
            <a:off x="5195990" y="2798993"/>
            <a:ext cx="1440016" cy="17100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ight Brace 3">
            <a:extLst>
              <a:ext uri="{FF2B5EF4-FFF2-40B4-BE49-F238E27FC236}">
                <a16:creationId xmlns:a16="http://schemas.microsoft.com/office/drawing/2014/main" id="{FFE31764-4A52-72F1-78CA-7F48E8A9D4D7}"/>
              </a:ext>
            </a:extLst>
          </p:cNvPr>
          <p:cNvSpPr/>
          <p:nvPr/>
        </p:nvSpPr>
        <p:spPr>
          <a:xfrm>
            <a:off x="4849492" y="5139019"/>
            <a:ext cx="471001" cy="1391111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E8EDD5-D79D-5DFA-D3D8-A9F30B7D3417}"/>
              </a:ext>
            </a:extLst>
          </p:cNvPr>
          <p:cNvCxnSpPr>
            <a:cxnSpLocks/>
          </p:cNvCxnSpPr>
          <p:nvPr/>
        </p:nvCxnSpPr>
        <p:spPr>
          <a:xfrm flipH="1">
            <a:off x="5529748" y="4571104"/>
            <a:ext cx="1021505" cy="113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42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3FA6A-061C-8B12-D868-94510A9C2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A456A2C-E9C6-751C-5C6C-19EB4342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– Performance comparison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19FF7E-664C-3996-D0E8-EF27A5F8B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8" t="28556"/>
          <a:stretch>
            <a:fillRect/>
          </a:stretch>
        </p:blipFill>
        <p:spPr>
          <a:xfrm>
            <a:off x="584764" y="2078985"/>
            <a:ext cx="9593575" cy="4590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80C487-C5F2-7E68-F399-FF79B45E44CC}"/>
              </a:ext>
            </a:extLst>
          </p:cNvPr>
          <p:cNvSpPr txBox="1"/>
          <p:nvPr/>
        </p:nvSpPr>
        <p:spPr>
          <a:xfrm>
            <a:off x="584764" y="921006"/>
            <a:ext cx="10911296" cy="107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80000"/>
            </a:pPr>
            <a:r>
              <a:rPr lang="en-US" b="1" spc="10" dirty="0">
                <a:latin typeface="Aptos" panose="020B0004020202020204" pitchFamily="34" charset="0"/>
                <a:cs typeface="Segoe UI" panose="020B0502040204020203" pitchFamily="34" charset="0"/>
              </a:rPr>
              <a:t>Best model</a:t>
            </a:r>
            <a:r>
              <a:rPr lang="en-US" spc="10" dirty="0">
                <a:latin typeface="Aptos" panose="020B0004020202020204" pitchFamily="34" charset="0"/>
                <a:cs typeface="Segoe UI" panose="020B0502040204020203" pitchFamily="34" charset="0"/>
              </a:rPr>
              <a:t> highlighted using </a:t>
            </a:r>
            <a:r>
              <a:rPr lang="en-US" b="1" spc="10" dirty="0">
                <a:latin typeface="Aptos" panose="020B0004020202020204" pitchFamily="34" charset="0"/>
                <a:cs typeface="Segoe UI" panose="020B0502040204020203" pitchFamily="34" charset="0"/>
              </a:rPr>
              <a:t>six </a:t>
            </a:r>
            <a:r>
              <a:rPr lang="en-US" spc="10" dirty="0">
                <a:latin typeface="Aptos" panose="020B0004020202020204" pitchFamily="34" charset="0"/>
                <a:cs typeface="Segoe UI" panose="020B0502040204020203" pitchFamily="34" charset="0"/>
              </a:rPr>
              <a:t>parameters: (1) Episodic Rewards, (2) Wear Margin, (3) Number of Violations, (4) Number of Replacements, (5) Time to reach Steady state for Wear-margin, (6) Steady state Std. Deviation</a:t>
            </a:r>
          </a:p>
        </p:txBody>
      </p:sp>
    </p:spTree>
    <p:extLst>
      <p:ext uri="{BB962C8B-B14F-4D97-AF65-F5344CB8AC3E}">
        <p14:creationId xmlns:p14="http://schemas.microsoft.com/office/powerpoint/2010/main" val="409382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D03DB-A3BA-C183-C055-B9C8D0EAE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E5424E0B-DE5B-DF0D-92C3-421205D9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– Evaluate on new machine data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7B9230D-AE04-96BE-9A5B-7CD38F0B6E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40903" y="991904"/>
            <a:ext cx="2205162" cy="5015866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Evaluation Dashboard:</a:t>
            </a:r>
          </a:p>
          <a:p>
            <a:pPr marL="342900" indent="-342900">
              <a:buAutoNum type="arabicPeriod"/>
            </a:pPr>
            <a:r>
              <a:rPr lang="en-GB" b="1" dirty="0"/>
              <a:t>Tool usage </a:t>
            </a:r>
            <a:r>
              <a:rPr lang="en-GB" dirty="0"/>
              <a:t>%</a:t>
            </a:r>
          </a:p>
          <a:p>
            <a:pPr marL="342900" indent="-342900">
              <a:buAutoNum type="arabicPeriod"/>
            </a:pPr>
            <a:r>
              <a:rPr lang="en-GB" b="1" dirty="0"/>
              <a:t>Lambda </a:t>
            </a:r>
            <a:r>
              <a:rPr lang="en-GB" dirty="0"/>
              <a:t>– Wear margin on first replacement</a:t>
            </a:r>
          </a:p>
          <a:p>
            <a:pPr marL="342900" indent="-342900">
              <a:buAutoNum type="arabicPeriod"/>
            </a:pPr>
            <a:r>
              <a:rPr lang="en-GB" dirty="0"/>
              <a:t>Violations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0FA6534-3E12-9672-0131-306C8C98F288}"/>
              </a:ext>
            </a:extLst>
          </p:cNvPr>
          <p:cNvCxnSpPr>
            <a:cxnSpLocks/>
          </p:cNvCxnSpPr>
          <p:nvPr/>
        </p:nvCxnSpPr>
        <p:spPr>
          <a:xfrm flipH="1">
            <a:off x="5195990" y="2798993"/>
            <a:ext cx="1440016" cy="171001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16B725A-F7F7-63CD-95C0-144BC511124D}"/>
              </a:ext>
            </a:extLst>
          </p:cNvPr>
          <p:cNvCxnSpPr>
            <a:cxnSpLocks/>
          </p:cNvCxnSpPr>
          <p:nvPr/>
        </p:nvCxnSpPr>
        <p:spPr>
          <a:xfrm flipH="1">
            <a:off x="5529748" y="4571104"/>
            <a:ext cx="1021505" cy="113583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0EE09DA9-9BCA-0272-7CD8-6CEF53F9A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" t="15400" r="3853"/>
          <a:stretch>
            <a:fillRect/>
          </a:stretch>
        </p:blipFill>
        <p:spPr>
          <a:xfrm>
            <a:off x="600086" y="981727"/>
            <a:ext cx="8825951" cy="534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11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F3F6-B96A-6D96-06E4-C7575ADEC1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 b="1" dirty="0">
                <a:latin typeface="Aptos" panose="020B0004020202020204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4134332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8382</TotalTime>
  <Words>360</Words>
  <Application>Microsoft Office PowerPoint</Application>
  <PresentationFormat>Widescreen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Century Schoolbook</vt:lpstr>
      <vt:lpstr>Consolas</vt:lpstr>
      <vt:lpstr>Segoe UI</vt:lpstr>
      <vt:lpstr>Wingdings 2</vt:lpstr>
      <vt:lpstr>View</vt:lpstr>
      <vt:lpstr>Reinforcement Learning for Predictive Maintenance</vt:lpstr>
      <vt:lpstr>Agenda</vt:lpstr>
      <vt:lpstr>AutoRL – Framework Flow</vt:lpstr>
      <vt:lpstr>AutoRL – Application Framework</vt:lpstr>
      <vt:lpstr>AutoRL – Application Framework</vt:lpstr>
      <vt:lpstr>Configuration Panel</vt:lpstr>
      <vt:lpstr>Training Set-up Panel</vt:lpstr>
      <vt:lpstr>Training Set-up Panel – SIT data loaded</vt:lpstr>
      <vt:lpstr>Training Set-up Panel – IEEE data loaded</vt:lpstr>
      <vt:lpstr>Training Queue</vt:lpstr>
      <vt:lpstr>Training: Live training plots</vt:lpstr>
      <vt:lpstr>Training Logs – All training plots saved in log</vt:lpstr>
      <vt:lpstr>Training – Phase 2 and Phase 3</vt:lpstr>
      <vt:lpstr>Training – Performance comparison</vt:lpstr>
      <vt:lpstr>Evaluation – Evaluate on new machine data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for PdM</dc:title>
  <dc:creator>Rajesh Siraskar</dc:creator>
  <cp:lastModifiedBy>Rajesh Siraskar</cp:lastModifiedBy>
  <cp:revision>2838</cp:revision>
  <dcterms:created xsi:type="dcterms:W3CDTF">2023-05-26T11:53:52Z</dcterms:created>
  <dcterms:modified xsi:type="dcterms:W3CDTF">2026-02-07T15:23:56Z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f5c69e-9d09-4250-825e-b99a9d4db320_Enabled">
    <vt:lpwstr>true</vt:lpwstr>
  </property>
  <property fmtid="{D5CDD505-2E9C-101B-9397-08002B2CF9AE}" pid="3" name="MSIP_Label_6ff5c69e-9d09-4250-825e-b99a9d4db320_SetDate">
    <vt:lpwstr>2023-05-26T12:03:23Z</vt:lpwstr>
  </property>
  <property fmtid="{D5CDD505-2E9C-101B-9397-08002B2CF9AE}" pid="4" name="MSIP_Label_6ff5c69e-9d09-4250-825e-b99a9d4db320_Method">
    <vt:lpwstr>Standard</vt:lpwstr>
  </property>
  <property fmtid="{D5CDD505-2E9C-101B-9397-08002B2CF9AE}" pid="5" name="MSIP_Label_6ff5c69e-9d09-4250-825e-b99a9d4db320_Name">
    <vt:lpwstr>General</vt:lpwstr>
  </property>
  <property fmtid="{D5CDD505-2E9C-101B-9397-08002B2CF9AE}" pid="6" name="MSIP_Label_6ff5c69e-9d09-4250-825e-b99a9d4db320_SiteId">
    <vt:lpwstr>d79da2e9-d03a-4707-9da7-67a34ac6465c</vt:lpwstr>
  </property>
  <property fmtid="{D5CDD505-2E9C-101B-9397-08002B2CF9AE}" pid="7" name="MSIP_Label_6ff5c69e-9d09-4250-825e-b99a9d4db320_ActionId">
    <vt:lpwstr>542c3fae-3b3a-478b-92a3-61155aa33ba9</vt:lpwstr>
  </property>
  <property fmtid="{D5CDD505-2E9C-101B-9397-08002B2CF9AE}" pid="8" name="MSIP_Label_6ff5c69e-9d09-4250-825e-b99a9d4db320_ContentBits">
    <vt:lpwstr>0</vt:lpwstr>
  </property>
</Properties>
</file>